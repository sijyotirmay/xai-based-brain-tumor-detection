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Georgia Bold" charset="1" panose="02040802050405020203"/>
      <p:regular r:id="rId29"/>
    </p:embeddedFont>
    <p:embeddedFont>
      <p:font typeface="Georgia" charset="1" panose="020405020504050203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8108" y="3975734"/>
            <a:ext cx="15151784" cy="220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XAI Based Detection of Brain Tumors using MRI Images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6184" y="1000790"/>
            <a:ext cx="6495631" cy="2621841"/>
            <a:chOff x="0" y="0"/>
            <a:chExt cx="8660842" cy="3495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392776" y="0"/>
              <a:ext cx="1875291" cy="1884574"/>
            </a:xfrm>
            <a:custGeom>
              <a:avLst/>
              <a:gdLst/>
              <a:ahLst/>
              <a:cxnLst/>
              <a:rect r="r" b="b" t="t" l="l"/>
              <a:pathLst>
                <a:path h="1884574" w="1875291">
                  <a:moveTo>
                    <a:pt x="0" y="0"/>
                  </a:moveTo>
                  <a:lnTo>
                    <a:pt x="1875290" y="0"/>
                  </a:lnTo>
                  <a:lnTo>
                    <a:pt x="1875290" y="1884574"/>
                  </a:lnTo>
                  <a:lnTo>
                    <a:pt x="0" y="1884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913149"/>
              <a:ext cx="8660842" cy="1582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8"/>
                </a:lnSpc>
              </a:pPr>
              <a:r>
                <a:rPr lang="en-US" sz="2320" b="true">
                  <a:solidFill>
                    <a:srgbClr val="000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Heritage Institute of Technology, Kolkata</a:t>
              </a:r>
            </a:p>
            <a:p>
              <a:pPr algn="ctr">
                <a:lnSpc>
                  <a:spcPts val="3191"/>
                </a:lnSpc>
              </a:pPr>
              <a:r>
                <a:rPr lang="en-US" sz="2279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Department of</a:t>
              </a:r>
            </a:p>
            <a:p>
              <a:pPr algn="ctr">
                <a:lnSpc>
                  <a:spcPts val="3191"/>
                </a:lnSpc>
                <a:spcBef>
                  <a:spcPct val="0"/>
                </a:spcBef>
              </a:pPr>
              <a:r>
                <a:rPr lang="en-US" sz="2279">
                  <a:solidFill>
                    <a:srgbClr val="000000"/>
                  </a:solidFill>
                  <a:latin typeface="Georgia"/>
                  <a:ea typeface="Georgia"/>
                  <a:cs typeface="Georgia"/>
                  <a:sym typeface="Georgia"/>
                </a:rPr>
                <a:t>Computer Science and Engineering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648213"/>
            <a:ext cx="4534992" cy="10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29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Mentor: 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Prof. Dr. Diganta Sengupta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87661" y="6648213"/>
            <a:ext cx="3271639" cy="261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86"/>
              </a:lnSpc>
            </a:pPr>
            <a:r>
              <a:rPr lang="en-US" sz="29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Presented by:</a:t>
            </a:r>
          </a:p>
          <a:p>
            <a:pPr algn="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Anwesha Goswami</a:t>
            </a:r>
          </a:p>
          <a:p>
            <a:pPr algn="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Jyotirmay Shrestha</a:t>
            </a:r>
          </a:p>
          <a:p>
            <a:pPr algn="r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Sayantika Bhunia</a:t>
            </a:r>
          </a:p>
          <a:p>
            <a:pPr algn="r">
              <a:lnSpc>
                <a:spcPts val="4186"/>
              </a:lnSpc>
              <a:spcBef>
                <a:spcPct val="0"/>
              </a:spcBef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Sneha Lahiri</a:t>
            </a:r>
          </a:p>
        </p:txBody>
      </p:sp>
      <p:sp>
        <p:nvSpPr>
          <p:cNvPr name="AutoShape 8" id="8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7352140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Table of 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1229"/>
            <a:ext cx="8115300" cy="631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1. Introduction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2.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Motivation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3.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Objectives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4.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Proposed Workflow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5.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Dataset Description</a:t>
            </a:r>
          </a:p>
          <a:p>
            <a:pPr algn="just">
              <a:lnSpc>
                <a:spcPts val="4186"/>
              </a:lnSpc>
            </a:pPr>
          </a:p>
          <a:p>
            <a:pPr algn="l">
              <a:lnSpc>
                <a:spcPts val="4886"/>
              </a:lnSpc>
              <a:spcBef>
                <a:spcPct val="0"/>
              </a:spcBef>
            </a:pPr>
            <a:r>
              <a:rPr lang="en-US" b="true" sz="34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6. Segmentation Model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144000" y="2611229"/>
            <a:ext cx="8115300" cy="681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7. Grad-CAM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8.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Classification Model 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9.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Research Gaps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10.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Future Work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11. </a:t>
            </a: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Conclusion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886"/>
              </a:lnSpc>
            </a:pPr>
            <a:r>
              <a:rPr lang="en-US" sz="34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12. References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7352140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56380"/>
            <a:ext cx="16230600" cy="522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MRI is essential for detecting brain abnormalities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Manual delineation is time-consuming and subjective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Growing demand for faster, consistent diagnostic support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Deep learning offers automated solutions for medical image segmentation</a:t>
            </a:r>
          </a:p>
          <a:p>
            <a:pPr algn="l">
              <a:lnSpc>
                <a:spcPts val="4186"/>
              </a:lnSpc>
            </a:pPr>
          </a:p>
          <a:p>
            <a:pPr algn="l">
              <a:lnSpc>
                <a:spcPts val="4186"/>
              </a:lnSpc>
            </a:pPr>
          </a:p>
          <a:p>
            <a:pPr algn="l">
              <a:lnSpc>
                <a:spcPts val="4186"/>
              </a:lnSpc>
              <a:spcBef>
                <a:spcPct val="0"/>
              </a:spcBef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Key Challenge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Accurate segmentation is critical but remains labor-intensive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7352140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Motivation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56380"/>
            <a:ext cx="16230600" cy="522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Build Cli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nician Trust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mprove Diagnostic Accuracy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nsure Accountability &amp; Compliance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Enhanc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Hum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n–AI Co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aboration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Guide Research &amp; Model Improvement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7352140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56380"/>
            <a:ext cx="16230600" cy="522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Implement 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ResUNet-based model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for segmentatio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on the BRISC dataset.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valuate using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DSC, IoU, pixel accuracy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 an 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enhanced loss function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(BCE + Dice) for better boundary precision.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Implement a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ResNet-based classification model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or tumor type prediction.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Implem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ent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XAI techniques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(Grad-CAM, LIME, SHAP) for clinical transparency.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712" y="2148705"/>
            <a:ext cx="10207205" cy="784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507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Input: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Contrast-enhanced T1-weighted Brain MRI images.</a:t>
            </a:r>
          </a:p>
          <a:p>
            <a:pPr algn="l">
              <a:lnSpc>
                <a:spcPts val="1806"/>
              </a:lnSpc>
            </a:pPr>
          </a:p>
          <a:p>
            <a:pPr algn="l" marL="602507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Stage 1 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(Segmentatio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n):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Preprocessing → ResUNet Model → Segmented Mask.</a:t>
            </a:r>
          </a:p>
          <a:p>
            <a:pPr algn="l">
              <a:lnSpc>
                <a:spcPts val="1806"/>
              </a:lnSpc>
            </a:pPr>
          </a:p>
          <a:p>
            <a:pPr algn="l" marL="602507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Proc</a:t>
            </a: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essing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Cropping the tumor region from the original MRI using the 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segmentation mask.</a:t>
            </a:r>
          </a:p>
          <a:p>
            <a:pPr algn="l">
              <a:lnSpc>
                <a:spcPts val="1806"/>
              </a:lnSpc>
            </a:pPr>
          </a:p>
          <a:p>
            <a:pPr algn="l" marL="602507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Stage 2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(Classificatio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n):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Cropped Tumor Region → ResNet Mode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 →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Tumor Type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(Glioma, Meningioma, Pituitary, No Tumor)</a:t>
            </a:r>
          </a:p>
          <a:p>
            <a:pPr algn="l">
              <a:lnSpc>
                <a:spcPts val="1806"/>
              </a:lnSpc>
            </a:pPr>
          </a:p>
          <a:p>
            <a:pPr algn="l" marL="602507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Explai</a:t>
            </a: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nability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Grad-CAM applied to both segmentation and classification  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stages to highlight influential regions and improve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interpretability.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722" y="194868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82430" y="2845666"/>
            <a:ext cx="7504428" cy="5655511"/>
          </a:xfrm>
          <a:custGeom>
            <a:avLst/>
            <a:gdLst/>
            <a:ahLst/>
            <a:cxnLst/>
            <a:rect r="r" b="b" t="t" l="l"/>
            <a:pathLst>
              <a:path h="5655511" w="7504428">
                <a:moveTo>
                  <a:pt x="0" y="0"/>
                </a:moveTo>
                <a:lnTo>
                  <a:pt x="7504427" y="0"/>
                </a:lnTo>
                <a:lnTo>
                  <a:pt x="7504427" y="5655510"/>
                </a:lnTo>
                <a:lnTo>
                  <a:pt x="0" y="565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433" t="-9280" r="-28979" b="-97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15224"/>
            <a:ext cx="918374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Proposed Workflow</a:t>
            </a:r>
          </a:p>
        </p:txBody>
      </p:sp>
      <p:sp>
        <p:nvSpPr>
          <p:cNvPr name="AutoShape 6" id="6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680679" y="8646160"/>
            <a:ext cx="310792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Workflow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878431" y="2452310"/>
            <a:ext cx="6380869" cy="6257406"/>
          </a:xfrm>
          <a:custGeom>
            <a:avLst/>
            <a:gdLst/>
            <a:ahLst/>
            <a:cxnLst/>
            <a:rect r="r" b="b" t="t" l="l"/>
            <a:pathLst>
              <a:path h="6257406" w="6380869">
                <a:moveTo>
                  <a:pt x="0" y="0"/>
                </a:moveTo>
                <a:lnTo>
                  <a:pt x="6380869" y="0"/>
                </a:lnTo>
                <a:lnTo>
                  <a:pt x="6380869" y="6257407"/>
                </a:lnTo>
                <a:lnTo>
                  <a:pt x="0" y="625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281" r="-19694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12099357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BRISC Dataset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56380"/>
            <a:ext cx="9472714" cy="575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BRISC (Brain Tumor Segmentation and Classification) dataset (Fateh et al., 2025) is a large-scale, high-quality MRI dataset designed for brain tumor detection and segmentation.</a:t>
            </a:r>
          </a:p>
          <a:p>
            <a:pPr algn="l">
              <a:lnSpc>
                <a:spcPts val="4186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Classes: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Glioma,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Meningioma, Pituitary.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Segmentation: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3933 for training, 860 for testing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Classification: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5000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or training, 1000 for testing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Annotation: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Ex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pert-labeled segm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entation masks.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Imaging Planes: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Axial, Coronal, Sagittal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228705" y="8843067"/>
            <a:ext cx="3680321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BRISC Dataset Images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801976" y="6186991"/>
            <a:ext cx="4457302" cy="3071309"/>
          </a:xfrm>
          <a:custGeom>
            <a:avLst/>
            <a:gdLst/>
            <a:ahLst/>
            <a:cxnLst/>
            <a:rect r="r" b="b" t="t" l="l"/>
            <a:pathLst>
              <a:path h="3071309" w="4457302">
                <a:moveTo>
                  <a:pt x="0" y="0"/>
                </a:moveTo>
                <a:lnTo>
                  <a:pt x="4457302" y="0"/>
                </a:lnTo>
                <a:lnTo>
                  <a:pt x="4457302" y="3071309"/>
                </a:lnTo>
                <a:lnTo>
                  <a:pt x="0" y="307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4122" y="2576406"/>
            <a:ext cx="4229562" cy="2950519"/>
          </a:xfrm>
          <a:custGeom>
            <a:avLst/>
            <a:gdLst/>
            <a:ahLst/>
            <a:cxnLst/>
            <a:rect r="r" b="b" t="t" l="l"/>
            <a:pathLst>
              <a:path h="2950519" w="4229562">
                <a:moveTo>
                  <a:pt x="0" y="0"/>
                </a:moveTo>
                <a:lnTo>
                  <a:pt x="4229562" y="0"/>
                </a:lnTo>
                <a:lnTo>
                  <a:pt x="4229562" y="2950519"/>
                </a:lnTo>
                <a:lnTo>
                  <a:pt x="0" y="2950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95350"/>
            <a:ext cx="12099357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Segmentation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11559"/>
            <a:ext cx="9472714" cy="687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31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Preprocessing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Resizing</a:t>
            </a:r>
          </a:p>
          <a:p>
            <a:pPr algn="l" marL="1291371" indent="-430457" lvl="2">
              <a:lnSpc>
                <a:spcPts val="4186"/>
              </a:lnSpc>
              <a:buFont typeface="Arial"/>
              <a:buChar char="⚬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resized to 256 × 256 pixels.</a:t>
            </a:r>
          </a:p>
          <a:p>
            <a:pPr algn="l">
              <a:lnSpc>
                <a:spcPts val="4186"/>
              </a:lnSpc>
            </a:pPr>
          </a:p>
          <a:p>
            <a:pPr algn="l">
              <a:lnSpc>
                <a:spcPts val="4466"/>
              </a:lnSpc>
            </a:pPr>
            <a:r>
              <a:rPr lang="en-US" sz="31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Augmentation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Horizontal flipping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Verti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ipping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otation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lastic deform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ation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Gauss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noise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dom brightn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 and contrast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Z-Score Normalization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38922" y="3916349"/>
            <a:ext cx="248800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Image Resizing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04056" y="7435626"/>
            <a:ext cx="3193554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Data Augmentation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8895" y="9306906"/>
            <a:ext cx="5523463" cy="15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https://www.nature.com/articles/s41598-025-01845-y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4056" y="5574550"/>
            <a:ext cx="4209695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https://www.researchgate.net/publication/362146527/figure/fig2/AS:11431281189122155@1694894202363/Example-of-resizing-an-MRI-image.jpg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065309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690286" y="3173341"/>
            <a:ext cx="7275420" cy="4699065"/>
          </a:xfrm>
          <a:custGeom>
            <a:avLst/>
            <a:gdLst/>
            <a:ahLst/>
            <a:cxnLst/>
            <a:rect r="r" b="b" t="t" l="l"/>
            <a:pathLst>
              <a:path h="4699065" w="7275420">
                <a:moveTo>
                  <a:pt x="0" y="0"/>
                </a:moveTo>
                <a:lnTo>
                  <a:pt x="7275420" y="0"/>
                </a:lnTo>
                <a:lnTo>
                  <a:pt x="7275420" y="4699065"/>
                </a:lnTo>
                <a:lnTo>
                  <a:pt x="0" y="4699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58477"/>
            <a:ext cx="15090186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ResUNet Model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7671" y="2351059"/>
            <a:ext cx="9661608" cy="780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Residual Block: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Adds input to output to improve feature learning and gradient flow.</a:t>
            </a:r>
          </a:p>
          <a:p>
            <a:pPr algn="l">
              <a:lnSpc>
                <a:spcPts val="2960"/>
              </a:lnSpc>
            </a:pPr>
          </a:p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Encoder: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Extracts deep features using convolutional layers and residual blocks.</a:t>
            </a:r>
          </a:p>
          <a:p>
            <a:pPr algn="l">
              <a:lnSpc>
                <a:spcPts val="2960"/>
              </a:lnSpc>
            </a:pPr>
          </a:p>
          <a:p>
            <a:pPr algn="l">
              <a:lnSpc>
                <a:spcPts val="1277"/>
              </a:lnSpc>
            </a:pPr>
          </a:p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Bridge: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Captures the highest-level abstract features before decoding starts.</a:t>
            </a:r>
          </a:p>
          <a:p>
            <a:pPr algn="l">
              <a:lnSpc>
                <a:spcPts val="2960"/>
              </a:lnSpc>
            </a:pPr>
          </a:p>
          <a:p>
            <a:pPr algn="l">
              <a:lnSpc>
                <a:spcPts val="1277"/>
              </a:lnSpc>
            </a:pPr>
          </a:p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Decoder: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Reconstructs the segmentation map using tr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convolutions 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nd skip connections.</a:t>
            </a:r>
          </a:p>
          <a:p>
            <a:pPr algn="l">
              <a:lnSpc>
                <a:spcPts val="2960"/>
              </a:lnSpc>
            </a:pPr>
          </a:p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Skip Connection: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oncaten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der 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 decoder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featu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 to retain spatial information.</a:t>
            </a:r>
          </a:p>
          <a:p>
            <a:pPr algn="l">
              <a:lnSpc>
                <a:spcPts val="2960"/>
              </a:lnSpc>
            </a:pPr>
          </a:p>
          <a:p>
            <a:pPr algn="l">
              <a:lnSpc>
                <a:spcPts val="1277"/>
              </a:lnSpc>
            </a:pPr>
          </a:p>
          <a:p>
            <a:pPr algn="l" marL="645686" indent="-322843" lvl="1">
              <a:lnSpc>
                <a:spcPts val="2960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Fi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nal 1×1 Convolution: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Conv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erts decoder features into the final segm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entation mask.</a:t>
            </a:r>
          </a:p>
          <a:p>
            <a:pPr algn="l">
              <a:lnSpc>
                <a:spcPts val="4186"/>
              </a:lnSpc>
            </a:pP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785367" y="7915268"/>
            <a:ext cx="5085259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ResUNet Architecture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66265" y="8522645"/>
            <a:ext cx="5523463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https://tse4.mm.bing.net/th/id/OIP.yvycWvHtPcmkhCHG4KA6ggHaEr?cb=ucfimg2&amp;ucfimg=1&amp;rs=1&amp;pid=ImgDetMain&amp;o=7&amp;rm=3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61987"/>
            <a:ext cx="7352140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Training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32530"/>
            <a:ext cx="16230600" cy="732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Batch siz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16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Learning rate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2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-4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Optimizer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Ad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Enhanced Loss function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We use 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combined loss: BC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 + Dic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 Loss.</a:t>
            </a:r>
          </a:p>
          <a:p>
            <a:pPr algn="l" marL="1291371" indent="-430457" lvl="2">
              <a:lnSpc>
                <a:spcPts val="4186"/>
              </a:lnSpc>
              <a:buFont typeface="Arial"/>
              <a:buChar char="⚬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Binary Cross Entropy Loss(BCE)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</a:p>
          <a:p>
            <a:pPr algn="l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Hel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 the mod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el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learn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accura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te pix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l-lev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nction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s.</a:t>
            </a:r>
          </a:p>
          <a:p>
            <a:pPr algn="l" marL="1291371" indent="-430457" lvl="2">
              <a:lnSpc>
                <a:spcPts val="4186"/>
              </a:lnSpc>
              <a:buFont typeface="Arial"/>
              <a:buChar char="⚬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Dice Loss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</a:t>
            </a:r>
          </a:p>
          <a:p>
            <a:pPr algn="l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Enhances boundary precision,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es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ecia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lly f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all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 irr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ar tumors.</a:t>
            </a:r>
          </a:p>
          <a:p>
            <a:pPr algn="l">
              <a:lnSpc>
                <a:spcPts val="4186"/>
              </a:lnSpc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     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Final loss = weighted sum of BCE and Dice → better segmentation quality.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Scheduler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educeLROnPlateau(optimizer,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factor=0.5,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nce=2)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Epochs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40</a:t>
            </a: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Testing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Eval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the trained model on unseen images to generate segmentation masks and measure final performance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557049" y="2227717"/>
            <a:ext cx="5273886" cy="3955414"/>
          </a:xfrm>
          <a:custGeom>
            <a:avLst/>
            <a:gdLst/>
            <a:ahLst/>
            <a:cxnLst/>
            <a:rect r="r" b="b" t="t" l="l"/>
            <a:pathLst>
              <a:path h="3955414" w="5273886">
                <a:moveTo>
                  <a:pt x="0" y="0"/>
                </a:moveTo>
                <a:lnTo>
                  <a:pt x="5273885" y="0"/>
                </a:lnTo>
                <a:lnTo>
                  <a:pt x="5273885" y="3955415"/>
                </a:lnTo>
                <a:lnTo>
                  <a:pt x="0" y="39554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37182" y="6404840"/>
            <a:ext cx="8088072" cy="2876985"/>
          </a:xfrm>
          <a:custGeom>
            <a:avLst/>
            <a:gdLst/>
            <a:ahLst/>
            <a:cxnLst/>
            <a:rect r="r" b="b" t="t" l="l"/>
            <a:pathLst>
              <a:path h="2876985" w="8088072">
                <a:moveTo>
                  <a:pt x="0" y="0"/>
                </a:moveTo>
                <a:lnTo>
                  <a:pt x="8088071" y="0"/>
                </a:lnTo>
                <a:lnTo>
                  <a:pt x="8088071" y="2876985"/>
                </a:lnTo>
                <a:lnTo>
                  <a:pt x="0" y="2876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286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61987"/>
            <a:ext cx="8928324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Evaluation &amp;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23005"/>
            <a:ext cx="7696560" cy="308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6"/>
              </a:lnSpc>
            </a:pPr>
            <a:r>
              <a:rPr lang="en-US" sz="29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Evaluation Metrics</a:t>
            </a:r>
          </a:p>
          <a:p>
            <a:pPr algn="l">
              <a:lnSpc>
                <a:spcPts val="967"/>
              </a:lnSpc>
            </a:pPr>
          </a:p>
          <a:p>
            <a:pPr algn="l" marL="602505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Dice Similarity Coeffici</a:t>
            </a: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ent (DSC)</a:t>
            </a: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</a:p>
          <a:p>
            <a:pPr algn="l" marL="602505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Intersection over Union (IoU)</a:t>
            </a:r>
          </a:p>
          <a:p>
            <a:pPr algn="l" marL="602505" indent="-301253" lvl="1">
              <a:lnSpc>
                <a:spcPts val="3906"/>
              </a:lnSpc>
              <a:buFont typeface="Arial"/>
              <a:buChar char="•"/>
            </a:pPr>
            <a:r>
              <a:rPr lang="en-US" b="true" sz="27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Pixel Accuracy (PA)</a:t>
            </a:r>
          </a:p>
          <a:p>
            <a:pPr algn="l">
              <a:lnSpc>
                <a:spcPts val="3906"/>
              </a:lnSpc>
            </a:pPr>
            <a:r>
              <a:rPr lang="en-US" sz="27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      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678" y="4951233"/>
            <a:ext cx="4707494" cy="46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8"/>
              </a:lnSpc>
            </a:pPr>
            <a:r>
              <a:rPr lang="en-US" sz="2877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Segmentation Results</a:t>
            </a:r>
          </a:p>
          <a:p>
            <a:pPr algn="l">
              <a:lnSpc>
                <a:spcPts val="930"/>
              </a:lnSpc>
            </a:pPr>
          </a:p>
          <a:p>
            <a:pPr algn="l" marL="579681" indent="-289841" lvl="1">
              <a:lnSpc>
                <a:spcPts val="3758"/>
              </a:lnSpc>
              <a:buFont typeface="Arial"/>
              <a:buChar char="•"/>
            </a:pP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Dice Score:</a:t>
            </a:r>
            <a:r>
              <a:rPr lang="en-US" sz="268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0.8455</a:t>
            </a:r>
          </a:p>
          <a:p>
            <a:pPr algn="l">
              <a:lnSpc>
                <a:spcPts val="1468"/>
              </a:lnSpc>
            </a:pPr>
          </a:p>
          <a:p>
            <a:pPr algn="l" marL="579681" indent="-289841" lvl="1">
              <a:lnSpc>
                <a:spcPts val="3758"/>
              </a:lnSpc>
              <a:buFont typeface="Arial"/>
              <a:buChar char="•"/>
            </a:pP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</a:t>
            </a: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oU:</a:t>
            </a:r>
            <a:r>
              <a:rPr lang="en-US" sz="268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0.7727</a:t>
            </a:r>
          </a:p>
          <a:p>
            <a:pPr algn="l">
              <a:lnSpc>
                <a:spcPts val="1468"/>
              </a:lnSpc>
            </a:pPr>
          </a:p>
          <a:p>
            <a:pPr algn="l" marL="579681" indent="-289841" lvl="1">
              <a:lnSpc>
                <a:spcPts val="3758"/>
              </a:lnSpc>
              <a:buFont typeface="Arial"/>
              <a:buChar char="•"/>
            </a:pP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</a:t>
            </a: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ixel Acc:</a:t>
            </a:r>
            <a:r>
              <a:rPr lang="en-US" sz="268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99.55%</a:t>
            </a:r>
          </a:p>
          <a:p>
            <a:pPr algn="l">
              <a:lnSpc>
                <a:spcPts val="1468"/>
              </a:lnSpc>
            </a:pPr>
          </a:p>
          <a:p>
            <a:pPr algn="l" marL="579681" indent="-289841" lvl="1">
              <a:lnSpc>
                <a:spcPts val="3758"/>
              </a:lnSpc>
              <a:buFont typeface="Arial"/>
              <a:buChar char="•"/>
            </a:pP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Train Loss:</a:t>
            </a:r>
            <a:r>
              <a:rPr lang="en-US" sz="268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0.3158</a:t>
            </a:r>
          </a:p>
          <a:p>
            <a:pPr algn="l">
              <a:lnSpc>
                <a:spcPts val="1468"/>
              </a:lnSpc>
            </a:pPr>
          </a:p>
          <a:p>
            <a:pPr algn="l" marL="579681" indent="-289841" lvl="1">
              <a:lnSpc>
                <a:spcPts val="3758"/>
              </a:lnSpc>
              <a:buFont typeface="Arial"/>
              <a:buChar char="•"/>
            </a:pPr>
            <a:r>
              <a:rPr lang="en-US" b="true" sz="2684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Val Loss:</a:t>
            </a:r>
            <a:r>
              <a:rPr lang="en-US" sz="268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0.1047</a:t>
            </a:r>
          </a:p>
          <a:p>
            <a:pPr algn="l">
              <a:lnSpc>
                <a:spcPts val="3758"/>
              </a:lnSpc>
            </a:pPr>
          </a:p>
          <a:p>
            <a:pPr algn="l">
              <a:lnSpc>
                <a:spcPts val="3758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24711" y="9436858"/>
            <a:ext cx="331301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ResUNet Ouput Mask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5850" y="2161042"/>
            <a:ext cx="7582407" cy="596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31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sz="31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Grad-CAM Approach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665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ses gradients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to generate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eatmaps.</a:t>
            </a:r>
          </a:p>
          <a:p>
            <a:pPr algn="l" marL="645686" indent="-322843" lvl="1">
              <a:lnSpc>
                <a:spcPts val="4665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Highlights regions contributing most to the segmentation decision.</a:t>
            </a:r>
          </a:p>
          <a:p>
            <a:pPr algn="l" marL="645686" indent="-322843" lvl="1">
              <a:lnSpc>
                <a:spcPts val="4665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Visualizes high-activation areas (Red/Yellow) vs low-activation (Blue).</a:t>
            </a:r>
          </a:p>
          <a:p>
            <a:pPr algn="l" marL="645686" indent="-322843" lvl="1">
              <a:lnSpc>
                <a:spcPts val="4665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XAI verifies if the model focuses on clinically relevant tumor tissues.</a:t>
            </a:r>
          </a:p>
          <a:p>
            <a:pPr algn="l">
              <a:lnSpc>
                <a:spcPts val="4186"/>
              </a:lnSpc>
            </a:pP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11107" y="3370656"/>
            <a:ext cx="9075525" cy="2470824"/>
          </a:xfrm>
          <a:custGeom>
            <a:avLst/>
            <a:gdLst/>
            <a:ahLst/>
            <a:cxnLst/>
            <a:rect r="r" b="b" t="t" l="l"/>
            <a:pathLst>
              <a:path h="2470824" w="9075525">
                <a:moveTo>
                  <a:pt x="0" y="0"/>
                </a:moveTo>
                <a:lnTo>
                  <a:pt x="9075525" y="0"/>
                </a:lnTo>
                <a:lnTo>
                  <a:pt x="9075525" y="2470824"/>
                </a:lnTo>
                <a:lnTo>
                  <a:pt x="0" y="2470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11107" y="5988770"/>
            <a:ext cx="9075525" cy="2429668"/>
          </a:xfrm>
          <a:custGeom>
            <a:avLst/>
            <a:gdLst/>
            <a:ahLst/>
            <a:cxnLst/>
            <a:rect r="r" b="b" t="t" l="l"/>
            <a:pathLst>
              <a:path h="2429668" w="9075525">
                <a:moveTo>
                  <a:pt x="0" y="0"/>
                </a:moveTo>
                <a:lnTo>
                  <a:pt x="9075525" y="0"/>
                </a:lnTo>
                <a:lnTo>
                  <a:pt x="9075525" y="2429668"/>
                </a:lnTo>
                <a:lnTo>
                  <a:pt x="0" y="2429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1987"/>
            <a:ext cx="8928324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Grad-CAM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18110" y="8494638"/>
            <a:ext cx="478957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Grad-CAM Heatmap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95350"/>
            <a:ext cx="12099357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Classification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78" y="2384880"/>
            <a:ext cx="9020335" cy="7778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3128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Preprocessing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Resizing</a:t>
            </a:r>
          </a:p>
          <a:p>
            <a:pPr algn="l" marL="1266101" indent="-422034" lvl="2">
              <a:lnSpc>
                <a:spcPts val="4105"/>
              </a:lnSpc>
              <a:buFont typeface="Arial"/>
              <a:buChar char="⚬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resized to 256 × 256 pixels.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Channel Conversion to 3-Channel Format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Label Encoding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Train–Validation–Test Split</a:t>
            </a:r>
          </a:p>
          <a:p>
            <a:pPr algn="l">
              <a:lnSpc>
                <a:spcPts val="4105"/>
              </a:lnSpc>
            </a:pPr>
          </a:p>
          <a:p>
            <a:pPr algn="l">
              <a:lnSpc>
                <a:spcPts val="4379"/>
              </a:lnSpc>
            </a:pPr>
            <a:r>
              <a:rPr lang="en-US" sz="3128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Data Augmentation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Horizontal flipping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Verti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ca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fl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ipping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otation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Shift, Scale and Rot</a:t>
            </a: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ate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Normalization</a:t>
            </a:r>
          </a:p>
          <a:p>
            <a:pPr algn="l" marL="633051" indent="-316525" lvl="1">
              <a:lnSpc>
                <a:spcPts val="4105"/>
              </a:lnSpc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Brightness and Contrast adjustment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36621" y="8833454"/>
            <a:ext cx="2504976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Image Stacking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41594" y="2778234"/>
            <a:ext cx="4895030" cy="5912345"/>
            <a:chOff x="0" y="0"/>
            <a:chExt cx="6526706" cy="7883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50405" y="0"/>
              <a:ext cx="3976301" cy="4122220"/>
            </a:xfrm>
            <a:custGeom>
              <a:avLst/>
              <a:gdLst/>
              <a:ahLst/>
              <a:cxnLst/>
              <a:rect r="r" b="b" t="t" l="l"/>
              <a:pathLst>
                <a:path h="4122220" w="3976301">
                  <a:moveTo>
                    <a:pt x="0" y="0"/>
                  </a:moveTo>
                  <a:lnTo>
                    <a:pt x="3976301" y="0"/>
                  </a:lnTo>
                  <a:lnTo>
                    <a:pt x="3976301" y="4122220"/>
                  </a:lnTo>
                  <a:lnTo>
                    <a:pt x="0" y="412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5342" t="-14403" r="-2644" b="-17576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79192" y="2061110"/>
              <a:ext cx="3989245" cy="4122220"/>
            </a:xfrm>
            <a:custGeom>
              <a:avLst/>
              <a:gdLst/>
              <a:ahLst/>
              <a:cxnLst/>
              <a:rect r="r" b="b" t="t" l="l"/>
              <a:pathLst>
                <a:path h="4122220" w="3989245">
                  <a:moveTo>
                    <a:pt x="0" y="0"/>
                  </a:moveTo>
                  <a:lnTo>
                    <a:pt x="3989245" y="0"/>
                  </a:lnTo>
                  <a:lnTo>
                    <a:pt x="3989245" y="4122220"/>
                  </a:lnTo>
                  <a:lnTo>
                    <a:pt x="0" y="412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3957" t="-16955" r="-238401" b="-16718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3760907"/>
              <a:ext cx="3893208" cy="4122220"/>
            </a:xfrm>
            <a:custGeom>
              <a:avLst/>
              <a:gdLst/>
              <a:ahLst/>
              <a:cxnLst/>
              <a:rect r="r" b="b" t="t" l="l"/>
              <a:pathLst>
                <a:path h="4122220" w="3893208">
                  <a:moveTo>
                    <a:pt x="0" y="0"/>
                  </a:moveTo>
                  <a:lnTo>
                    <a:pt x="3893208" y="0"/>
                  </a:lnTo>
                  <a:lnTo>
                    <a:pt x="3893208" y="4122220"/>
                  </a:lnTo>
                  <a:lnTo>
                    <a:pt x="0" y="412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262" t="-23403" r="-382164" b="-15253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788080"/>
            <a:ext cx="8768340" cy="4112049"/>
          </a:xfrm>
          <a:custGeom>
            <a:avLst/>
            <a:gdLst/>
            <a:ahLst/>
            <a:cxnLst/>
            <a:rect r="r" b="b" t="t" l="l"/>
            <a:pathLst>
              <a:path h="4112049" w="8768340">
                <a:moveTo>
                  <a:pt x="0" y="0"/>
                </a:moveTo>
                <a:lnTo>
                  <a:pt x="8768340" y="0"/>
                </a:lnTo>
                <a:lnTo>
                  <a:pt x="8768340" y="4112049"/>
                </a:lnTo>
                <a:lnTo>
                  <a:pt x="0" y="4112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ResNet18 Model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678" y="2572374"/>
            <a:ext cx="8115300" cy="804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</a:pP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Initial Convolution Stage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7×7 conv (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stride 2), BN, ReLU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3×3 max-pool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Extracts low-level features</a:t>
            </a:r>
          </a:p>
          <a:p>
            <a:pPr algn="l">
              <a:lnSpc>
                <a:spcPts val="4046"/>
              </a:lnSpc>
            </a:pP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Residual Blocks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Identity Block: 2×3×3 conv + BN + ReLU + skip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Projection Block: stride-2 downsampling + 1×1 projection</a:t>
            </a:r>
          </a:p>
          <a:p>
            <a:pPr algn="l">
              <a:lnSpc>
                <a:spcPts val="4046"/>
              </a:lnSpc>
            </a:pP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</a:t>
            </a: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ayer Stack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L1: 2× Identity (64)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L2: P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rojection → Identity (128)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L3: Pr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ojection →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Identi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ty (256)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L4: Pr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ojection → Identity (512)</a:t>
            </a:r>
          </a:p>
          <a:p>
            <a:pPr algn="l">
              <a:lnSpc>
                <a:spcPts val="4046"/>
              </a:lnSpc>
            </a:pPr>
          </a:p>
          <a:p>
            <a:pPr algn="l">
              <a:lnSpc>
                <a:spcPts val="376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24844" y="8852504"/>
            <a:ext cx="518447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ResNet18 Architecture Diagram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4837" y="2572374"/>
            <a:ext cx="9472714" cy="249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6"/>
              </a:lnSpc>
            </a:pP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Cla</a:t>
            </a: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ssific</a:t>
            </a: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ation Head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dap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tive AvgPool → FC (512→4) →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Softmax</a:t>
            </a:r>
          </a:p>
          <a:p>
            <a:pPr algn="l">
              <a:lnSpc>
                <a:spcPts val="4046"/>
              </a:lnSpc>
            </a:pP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Init</a:t>
            </a:r>
            <a:r>
              <a:rPr lang="en-US" sz="28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ialization</a:t>
            </a:r>
          </a:p>
          <a:p>
            <a:pPr algn="l" marL="624096" indent="-312048" lvl="1">
              <a:lnSpc>
                <a:spcPts val="4046"/>
              </a:lnSpc>
              <a:buFont typeface="Arial"/>
              <a:buChar char="•"/>
            </a:pP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Ka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iming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Normal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f</a:t>
            </a:r>
            <a:r>
              <a:rPr lang="en-US" sz="28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or all layers</a:t>
            </a:r>
          </a:p>
          <a:p>
            <a:pPr algn="l">
              <a:lnSpc>
                <a:spcPts val="376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018990" y="9350344"/>
            <a:ext cx="7240287" cy="158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"/>
              </a:lnSpc>
              <a:spcBef>
                <a:spcPct val="0"/>
              </a:spcBef>
            </a:pPr>
            <a:r>
              <a:rPr lang="en-US" sz="899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https://www.researchgate.net/figure/a-The-basic-residual-block-b-The-ResNet18-architecture-The-numbers-in-each_fig1_352666166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22" y="2016665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45" y="698585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Training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80105"/>
            <a:ext cx="7639297" cy="745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Batch size: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16</a:t>
            </a: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Learning rate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: 1e-4</a:t>
            </a: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Optimizer: 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Adam</a:t>
            </a: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Loss: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Cross-Entropy Loss</a:t>
            </a: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Scheduler: 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StepLR scheduler (halves LR every 7 epochs)</a:t>
            </a: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Epochs: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30</a:t>
            </a:r>
          </a:p>
          <a:p>
            <a:pPr algn="just">
              <a:lnSpc>
                <a:spcPts val="3683"/>
              </a:lnSpc>
            </a:pPr>
          </a:p>
          <a:p>
            <a:pPr algn="just">
              <a:lnSpc>
                <a:spcPts val="3683"/>
              </a:lnSpc>
            </a:pPr>
            <a:r>
              <a:rPr lang="en-US" sz="2631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Fine-tuned the pretrained ResNet18 Model:</a:t>
            </a:r>
          </a:p>
          <a:p>
            <a:pPr algn="just" marL="568064" indent="-284032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Started with a</a:t>
            </a: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pretrained ResNet-18, adjusted it for 3-channel input and replaced the final layer to match the classes.</a:t>
            </a:r>
          </a:p>
          <a:p>
            <a:pPr algn="just" marL="568064" indent="-284032" lvl="1">
              <a:lnSpc>
                <a:spcPts val="3683"/>
              </a:lnSpc>
              <a:buFont typeface="Arial"/>
              <a:buChar char="•"/>
            </a:pPr>
            <a:r>
              <a:rPr lang="en-US" sz="2631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Trained the whole network end-to-end with Adam, scheduler, augmentations, and class-balancing so the model adapts to our dataset.</a:t>
            </a:r>
          </a:p>
          <a:p>
            <a:pPr algn="just">
              <a:lnSpc>
                <a:spcPts val="368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23574" y="2280105"/>
            <a:ext cx="7935748" cy="745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7"/>
              </a:lnSpc>
            </a:pPr>
            <a:r>
              <a:rPr lang="en-US" sz="2634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Validation: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uns after every epoch to measure model performance on unseen data.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Uses only resizing for stable evaluation.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Computes validation loss and accuracy.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Saves checkpoints and updates the best model whenever accuracy improves.</a:t>
            </a:r>
          </a:p>
          <a:p>
            <a:pPr algn="just">
              <a:lnSpc>
                <a:spcPts val="3687"/>
              </a:lnSpc>
            </a:pPr>
          </a:p>
          <a:p>
            <a:pPr algn="just">
              <a:lnSpc>
                <a:spcPts val="3687"/>
              </a:lnSpc>
            </a:pPr>
            <a:r>
              <a:rPr lang="en-US" sz="2634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Testing: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Performs a full ev</a:t>
            </a: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aluation on the validation set once training finishes.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Generates a classification re</a:t>
            </a: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port, confusion matrix, and predictions CSV.</a:t>
            </a:r>
          </a:p>
          <a:p>
            <a:pPr algn="just" marL="568732" indent="-284366" lvl="1">
              <a:lnSpc>
                <a:spcPts val="3687"/>
              </a:lnSpc>
              <a:buFont typeface="Arial"/>
              <a:buChar char="•"/>
            </a:pPr>
            <a:r>
              <a:rPr lang="en-US" sz="2634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Provides per-class performance and overall summary metrics.</a:t>
            </a:r>
          </a:p>
          <a:p>
            <a:pPr algn="just">
              <a:lnSpc>
                <a:spcPts val="3687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661987"/>
            <a:ext cx="8928324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Evaluation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23005"/>
            <a:ext cx="16230600" cy="6287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3190" b="true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Evaluation Metrics</a:t>
            </a:r>
          </a:p>
          <a:p>
            <a:pPr algn="l">
              <a:lnSpc>
                <a:spcPts val="1247"/>
              </a:lnSpc>
            </a:pPr>
          </a:p>
          <a:p>
            <a:pPr algn="l" marL="645685" indent="-322842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Ac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curacy –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measures the proportion of correctly classified samples.</a:t>
            </a:r>
          </a:p>
          <a:p>
            <a:pPr algn="l" marL="278511" indent="-139256" lvl="1">
              <a:lnSpc>
                <a:spcPts val="1806"/>
              </a:lnSpc>
              <a:buFont typeface="Arial"/>
              <a:buChar char="•"/>
            </a:pPr>
          </a:p>
          <a:p>
            <a:pPr algn="l" marL="645685" indent="-322842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Precision –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assesses how many predicted positives are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true positives.</a:t>
            </a:r>
          </a:p>
          <a:p>
            <a:pPr algn="l">
              <a:lnSpc>
                <a:spcPts val="1806"/>
              </a:lnSpc>
            </a:pPr>
          </a:p>
          <a:p>
            <a:pPr algn="l" marL="645685" indent="-322842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Recall (Sensitivity)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–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asur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es the model’s ability to correctly identify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positive samples.</a:t>
            </a:r>
          </a:p>
          <a:p>
            <a:pPr algn="l">
              <a:lnSpc>
                <a:spcPts val="1806"/>
              </a:lnSpc>
            </a:pPr>
          </a:p>
          <a:p>
            <a:pPr algn="l" marL="645685" indent="-322842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F1-Score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–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harmo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nic mean of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pr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ecision and recall, especially useful for imbalanced datasets.</a:t>
            </a:r>
          </a:p>
          <a:p>
            <a:pPr algn="l">
              <a:lnSpc>
                <a:spcPts val="1806"/>
              </a:lnSpc>
            </a:pPr>
          </a:p>
          <a:p>
            <a:pPr algn="l" marL="645685" indent="-322842" lvl="1">
              <a:lnSpc>
                <a:spcPts val="41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Confusion Matrix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–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provides detailed insights into class-wise performance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and miscl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assification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p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atterns.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957024" y="4697240"/>
            <a:ext cx="5559822" cy="4169866"/>
          </a:xfrm>
          <a:custGeom>
            <a:avLst/>
            <a:gdLst/>
            <a:ahLst/>
            <a:cxnLst/>
            <a:rect r="r" b="b" t="t" l="l"/>
            <a:pathLst>
              <a:path h="4169866" w="5559822">
                <a:moveTo>
                  <a:pt x="0" y="0"/>
                </a:moveTo>
                <a:lnTo>
                  <a:pt x="5559822" y="0"/>
                </a:lnTo>
                <a:lnTo>
                  <a:pt x="5559822" y="4169867"/>
                </a:lnTo>
                <a:lnTo>
                  <a:pt x="0" y="4169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19214" y="4697240"/>
            <a:ext cx="5559822" cy="4169866"/>
          </a:xfrm>
          <a:custGeom>
            <a:avLst/>
            <a:gdLst/>
            <a:ahLst/>
            <a:cxnLst/>
            <a:rect r="r" b="b" t="t" l="l"/>
            <a:pathLst>
              <a:path h="4169866" w="5559822">
                <a:moveTo>
                  <a:pt x="0" y="0"/>
                </a:moveTo>
                <a:lnTo>
                  <a:pt x="5559822" y="0"/>
                </a:lnTo>
                <a:lnTo>
                  <a:pt x="5559822" y="4169867"/>
                </a:lnTo>
                <a:lnTo>
                  <a:pt x="0" y="4169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61987"/>
            <a:ext cx="8928324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23005"/>
            <a:ext cx="16230600" cy="225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6"/>
              </a:lnSpc>
            </a:pPr>
            <a:r>
              <a:rPr lang="en-US" sz="31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31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he following res</a:t>
            </a:r>
            <a:r>
              <a:rPr lang="en-US" sz="31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ults we</a:t>
            </a:r>
            <a:r>
              <a:rPr lang="en-US" sz="31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31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 achieved:</a:t>
            </a:r>
          </a:p>
          <a:p>
            <a:pPr algn="l">
              <a:lnSpc>
                <a:spcPts val="1247"/>
              </a:lnSpc>
            </a:pPr>
          </a:p>
          <a:p>
            <a:pPr algn="l" marL="645684" indent="-322842" lvl="1">
              <a:lnSpc>
                <a:spcPts val="4186"/>
              </a:lnSpc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a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ining Accuracy: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99.08%</a:t>
            </a:r>
          </a:p>
          <a:p>
            <a:pPr algn="l" marL="645684" indent="-322842" lvl="1">
              <a:lnSpc>
                <a:spcPts val="41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T</a:t>
            </a: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est Accuracy: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98.60%</a:t>
            </a:r>
          </a:p>
          <a:p>
            <a:pPr algn="l">
              <a:lnSpc>
                <a:spcPts val="390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09982"/>
            <a:ext cx="16230600" cy="51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Confusion Matrix of training and testing dataset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882157" y="2833970"/>
            <a:ext cx="7377120" cy="4149630"/>
          </a:xfrm>
          <a:custGeom>
            <a:avLst/>
            <a:gdLst/>
            <a:ahLst/>
            <a:cxnLst/>
            <a:rect r="r" b="b" t="t" l="l"/>
            <a:pathLst>
              <a:path h="4149630" w="7377120">
                <a:moveTo>
                  <a:pt x="0" y="0"/>
                </a:moveTo>
                <a:lnTo>
                  <a:pt x="7377121" y="0"/>
                </a:lnTo>
                <a:lnTo>
                  <a:pt x="7377121" y="4149630"/>
                </a:lnTo>
                <a:lnTo>
                  <a:pt x="0" y="4149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Explainable AI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678" y="2572374"/>
            <a:ext cx="8853480" cy="593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Enables users to understand and trust the results and outputs generated by complex machine learning algorithms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Makes AI systems more transparent, interpretable, and accountable, in high-stakes domains like healthcare, finance, etc.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Post-Hoc Methods:</a:t>
            </a:r>
          </a:p>
          <a:p>
            <a:pPr algn="l" marL="1291371" indent="-430457" lvl="2">
              <a:lnSpc>
                <a:spcPts val="4186"/>
              </a:lnSpc>
              <a:buFont typeface="Arial"/>
              <a:buChar char="⚬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LIME (Local Interpretable Model-agnostic Explanations)</a:t>
            </a:r>
          </a:p>
          <a:p>
            <a:pPr algn="l" marL="1291371" indent="-430457" lvl="2">
              <a:lnSpc>
                <a:spcPts val="4186"/>
              </a:lnSpc>
              <a:buFont typeface="Arial"/>
              <a:buChar char="⚬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SHAP (SHapley Additive exPlanations)</a:t>
            </a:r>
          </a:p>
          <a:p>
            <a:pPr algn="l">
              <a:lnSpc>
                <a:spcPts val="180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60407" y="7688704"/>
            <a:ext cx="536207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Source: https://www.mdpi.com/applsci/applsci-15-07329/article_deploy/html/images/applsci-15-07329-g002-550.jpg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72883" y="7059800"/>
            <a:ext cx="4195668" cy="51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  <a:spcBef>
                <a:spcPct val="0"/>
              </a:spcBef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ML Model as Black Box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678" y="2572374"/>
            <a:ext cx="16230600" cy="502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Lack of Standard Evaluation for XAI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Absence of 3D Explainability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XAI Not Integrated Into Learning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Lack of Human-in-the-Loop Validation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Poor Generalization of Explanations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Limited XAI Research for Tumor Grading &amp; Prognosis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spcBef>
                <a:spcPct val="0"/>
              </a:spcBef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Lack of Real-Time or Lightweight XAI Solutions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Research Gaps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678" y="2572374"/>
            <a:ext cx="10868530" cy="666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Extend segmentation to 3D MRI volumes for improved spatial understanding and tumor consistency across slices.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Incorporate advanced arc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hitectures (e.g., nnU-net, Swin-UNet) for better feature extraction.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Develop a user-friendly interface for clinicians to upload MRI scans and view explanations.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Apply LIME for region-wise interpretability of classification predictions.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Use SHAP to quantify feature contribution and enhance trust in model decisions.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878596" y="3975191"/>
            <a:ext cx="5380659" cy="3580584"/>
          </a:xfrm>
          <a:custGeom>
            <a:avLst/>
            <a:gdLst/>
            <a:ahLst/>
            <a:cxnLst/>
            <a:rect r="r" b="b" t="t" l="l"/>
            <a:pathLst>
              <a:path h="3580584" w="5380659">
                <a:moveTo>
                  <a:pt x="0" y="0"/>
                </a:moveTo>
                <a:lnTo>
                  <a:pt x="5380659" y="0"/>
                </a:lnTo>
                <a:lnTo>
                  <a:pt x="5380659" y="3580585"/>
                </a:lnTo>
                <a:lnTo>
                  <a:pt x="0" y="3580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95350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Future 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97208" y="7736751"/>
            <a:ext cx="5362070" cy="31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Source: https://www.mdpi.com/applsci/applsci-15-07329/article_deploy/html/images/applsci-15-07329-g002-550.jpg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2213430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95350"/>
            <a:ext cx="13813803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78" y="2572374"/>
            <a:ext cx="16230600" cy="666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 complete deep-learning pipeline was developed for brain tumor segmentation and classification using MRI.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ResUNet produced accurate tumor masks wit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 strong Dice and IoU scores, effectively capturing shape and boundary variations.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ResNet18, trained on segmentation-guided tumor crops, achieved reliable classification across glioma, meningioma, pituitary, and no-tumor cases.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Grad-CAM provided visual explanations, improving model transparency and supporting potential clinical trust.</a:t>
            </a:r>
          </a:p>
          <a:p>
            <a:pPr algn="l">
              <a:lnSpc>
                <a:spcPts val="1805"/>
              </a:lnSpc>
            </a:pPr>
          </a:p>
          <a:p>
            <a:pPr algn="l" marL="645686" indent="-322843" lvl="1">
              <a:lnSpc>
                <a:spcPts val="4186"/>
              </a:lnSpc>
              <a:buFont typeface="Arial"/>
              <a:buChar char="•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The integration of segmentation + classification + explainability forms a robust, interpretable, and clinically meaningful workflow for brain tumor analysis.</a:t>
            </a:r>
          </a:p>
          <a:p>
            <a:pPr algn="l">
              <a:lnSpc>
                <a:spcPts val="41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78" y="1980067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661987"/>
            <a:ext cx="8928324" cy="10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9"/>
              </a:lnSpc>
              <a:spcBef>
                <a:spcPct val="0"/>
              </a:spcBef>
            </a:pPr>
            <a:r>
              <a:rPr lang="en-US" sz="62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49767"/>
            <a:ext cx="16230600" cy="680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Zeineldin, R. A., et al., “Explainability of Deep Neural Networks for MRI Analysis of Brain Tumors: The NeuroXAI Framework,” 2022.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Asmita &amp; Mittal, P., “From Black Box AI to Explainable AI in Neuro-Oncology: A Survey on MRI-Based Brain Tumor Detection,” 2025.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Jia, W., &amp; Chen, Y., “Brain 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umor Identification and Classification Using Deep Learning Techniques on MRI Data,” 2020.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Iftikhar, M., et al., “Explainable CNN for Brain Tumor Detection and Classification Using MRI Images,” 2025.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Anantharajan, R., et al., “MRI Brain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umo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Detection Using Deep Le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 and Segmentat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n 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pproa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hes,” 2024.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b="true" sz="299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Road Extra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tion by Deep Resid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al U-Net, Rese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hGate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Preprint.</a:t>
            </a:r>
          </a:p>
          <a:p>
            <a:pPr algn="l" marL="645684" indent="-322842" lvl="1">
              <a:lnSpc>
                <a:spcPts val="4186"/>
              </a:lnSpc>
              <a:buAutoNum type="arabicPeriod" startAt="1"/>
            </a:pP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BRISC: Annotated Dataset for Brain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umor 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gmentation and Cla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sifica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ion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with Swin-H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FNet, Resea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rc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hGate,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99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2024.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D6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22" y="3773551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74" y="12382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10163175"/>
            <a:ext cx="18287226" cy="0"/>
          </a:xfrm>
          <a:prstGeom prst="line">
            <a:avLst/>
          </a:prstGeom>
          <a:ln cap="flat" w="24765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338897" y="4184641"/>
            <a:ext cx="7610206" cy="171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true">
                <a:solidFill>
                  <a:srgbClr val="28266D"/>
                </a:solidFill>
                <a:latin typeface="Georgia Bold"/>
                <a:ea typeface="Georgia Bold"/>
                <a:cs typeface="Georgia Bold"/>
                <a:sym typeface="Georgia Bold"/>
              </a:rPr>
              <a:t>Thank You!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8745" y="6492884"/>
            <a:ext cx="16230600" cy="19050"/>
          </a:xfrm>
          <a:prstGeom prst="line">
            <a:avLst/>
          </a:prstGeom>
          <a:ln cap="flat" w="38100">
            <a:solidFill>
              <a:srgbClr val="2826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DAG7N_kHTk0</dc:identifier>
  <dcterms:modified xsi:type="dcterms:W3CDTF">2011-08-01T06:04:30Z</dcterms:modified>
  <cp:revision>1</cp:revision>
  <dc:title>XAI PPT</dc:title>
</cp:coreProperties>
</file>